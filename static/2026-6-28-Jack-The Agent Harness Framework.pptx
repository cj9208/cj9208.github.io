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61" r:id="rId4"/>
    <p:sldId id="257" r:id="rId6"/>
    <p:sldId id="263" r:id="rId7"/>
    <p:sldId id="260" r:id="rId8"/>
    <p:sldId id="262" r:id="rId9"/>
    <p:sldId id="258" r:id="rId10"/>
    <p:sldId id="265" r:id="rId11"/>
    <p:sldId id="266" r:id="rId12"/>
    <p:sldId id="269" r:id="rId13"/>
    <p:sldId id="267" r:id="rId14"/>
    <p:sldId id="270" r:id="rId15"/>
    <p:sldId id="272" r:id="rId16"/>
    <p:sldId id="271" r:id="rId17"/>
    <p:sldId id="273" r:id="rId18"/>
    <p:sldId id="268" r:id="rId19"/>
    <p:sldId id="274" r:id="rId20"/>
    <p:sldId id="275" r:id="rId21"/>
    <p:sldId id="276" r:id="rId22"/>
    <p:sldId id="281" r:id="rId23"/>
    <p:sldId id="277" r:id="rId24"/>
    <p:sldId id="282" r:id="rId25"/>
    <p:sldId id="283" r:id="rId26"/>
    <p:sldId id="259"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prompt engineering:  </a:t>
            </a:r>
            <a:r>
              <a:rPr lang="en-US" altLang="zh-CN"/>
              <a:t>input and wait for output</a:t>
            </a:r>
            <a:endParaRPr lang="en-US" altLang="zh-CN"/>
          </a:p>
          <a:p>
            <a:r>
              <a:rPr lang="en-US" altLang="zh-CN"/>
              <a:t>context engineering: think carefully, input and wait for output </a:t>
            </a:r>
            <a:endParaRPr lang="en-US" altLang="zh-CN"/>
          </a:p>
          <a:p>
            <a:r>
              <a:rPr lang="en-US" altLang="zh-CN"/>
              <a:t>harness engineering: input, wait for output, and then change accordingly</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zhuanlan.zhihu.com/p/2053972037258022996&#13;" TargetMode="External"/><Relationship Id="rId5" Type="http://schemas.openxmlformats.org/officeDocument/2006/relationships/hyperlink" Target="https://zhuanlan.zhihu.com/p/2052879237149876465" TargetMode="External"/><Relationship Id="rId4" Type="http://schemas.openxmlformats.org/officeDocument/2006/relationships/hyperlink" Target="https://zhuanlan.zhihu.com/p/2052893946356019265" TargetMode="External"/><Relationship Id="rId3" Type="http://schemas.openxmlformats.org/officeDocument/2006/relationships/hyperlink" Target="https://zhuanlan.zhihu.com/p/2052900428464107659" TargetMode="External"/><Relationship Id="rId2" Type="http://schemas.openxmlformats.org/officeDocument/2006/relationships/hyperlink" Target="https://zhuanlan.zhihu.com/p/2050584012654223983" TargetMode="External"/><Relationship Id="rId1" Type="http://schemas.openxmlformats.org/officeDocument/2006/relationships/hyperlink" Target="https://picrew.github.io/LLM-Harnes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sz="5400"/>
              <a:t>The Agent Harness Framework</a:t>
            </a:r>
            <a:endParaRPr lang="en-US" altLang="zh-CN" sz="5400"/>
          </a:p>
        </p:txBody>
      </p:sp>
      <p:sp>
        <p:nvSpPr>
          <p:cNvPr id="3" name="副标题 2"/>
          <p:cNvSpPr>
            <a:spLocks noGrp="1"/>
          </p:cNvSpPr>
          <p:nvPr>
            <p:ph type="subTitle" idx="1"/>
          </p:nvPr>
        </p:nvSpPr>
        <p:spPr/>
        <p:txBody>
          <a:bodyPr/>
          <a:p>
            <a:r>
              <a:rPr lang="en-US" altLang="zh-CN">
                <a:sym typeface="+mn-ea"/>
              </a:rPr>
              <a:t>Architectural Overview and Engineering Practices</a:t>
            </a:r>
            <a:endParaRPr lang="en-US" altLang="zh-CN">
              <a:sym typeface="+mn-ea"/>
            </a:endParaRPr>
          </a:p>
          <a:p>
            <a:r>
              <a:rPr lang="en-US" altLang="zh-CN"/>
              <a:t>Jack Chen</a:t>
            </a:r>
            <a:endParaRPr lang="zh-CN" altLang="en-US"/>
          </a:p>
          <a:p>
            <a:r>
              <a:rPr lang="en-US" altLang="zh-CN"/>
              <a:t>June 2026</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The Evolution of Prompting: A Control Theory Perspective</a:t>
            </a:r>
            <a:endParaRPr lang="en-US" altLang="zh-CN"/>
          </a:p>
        </p:txBody>
      </p:sp>
      <p:graphicFrame>
        <p:nvGraphicFramePr>
          <p:cNvPr id="4" name="表格 3"/>
          <p:cNvGraphicFramePr/>
          <p:nvPr>
            <p:custDataLst>
              <p:tags r:id="rId1"/>
            </p:custDataLst>
          </p:nvPr>
        </p:nvGraphicFramePr>
        <p:xfrm>
          <a:off x="838200" y="1990090"/>
          <a:ext cx="10516235" cy="3633470"/>
        </p:xfrm>
        <a:graphic>
          <a:graphicData uri="http://schemas.openxmlformats.org/drawingml/2006/table">
            <a:tbl>
              <a:tblPr firstRow="1" bandRow="1">
                <a:tableStyleId>{5C22544A-7EE6-4342-B048-85BDC9FD1C3A}</a:tableStyleId>
              </a:tblPr>
              <a:tblGrid>
                <a:gridCol w="1400810"/>
                <a:gridCol w="5610225"/>
                <a:gridCol w="3505200"/>
              </a:tblGrid>
              <a:tr h="386715">
                <a:tc>
                  <a:txBody>
                    <a:bodyPr/>
                    <a:p>
                      <a:pPr>
                        <a:buNone/>
                      </a:pPr>
                      <a:endParaRPr lang="en-US" altLang="zh-CN"/>
                    </a:p>
                  </a:txBody>
                  <a:tcPr/>
                </a:tc>
                <a:tc>
                  <a:txBody>
                    <a:bodyPr/>
                    <a:p>
                      <a:pPr>
                        <a:buNone/>
                      </a:pPr>
                      <a:r>
                        <a:rPr lang="en-US" altLang="zh-CN"/>
                        <a:t>Common </a:t>
                      </a:r>
                      <a:r>
                        <a:rPr lang="en-US" altLang="zh-CN"/>
                        <a:t>examples</a:t>
                      </a:r>
                      <a:endParaRPr lang="en-US" altLang="zh-CN"/>
                    </a:p>
                  </a:txBody>
                  <a:tcPr/>
                </a:tc>
                <a:tc>
                  <a:txBody>
                    <a:bodyPr/>
                    <a:p>
                      <a:pPr>
                        <a:buNone/>
                      </a:pPr>
                      <a:r>
                        <a:rPr lang="en-US" altLang="zh-CN"/>
                        <a:t>LLM</a:t>
                      </a:r>
                      <a:endParaRPr lang="en-US" altLang="zh-CN"/>
                    </a:p>
                  </a:txBody>
                  <a:tcPr/>
                </a:tc>
              </a:tr>
              <a:tr h="1483995">
                <a:tc>
                  <a:txBody>
                    <a:bodyPr/>
                    <a:p>
                      <a:pPr>
                        <a:buNone/>
                      </a:pPr>
                      <a:r>
                        <a:rPr lang="en-US" altLang="zh-CN"/>
                        <a:t>open loop system</a:t>
                      </a:r>
                      <a:endParaRPr lang="en-US" altLang="zh-CN"/>
                    </a:p>
                  </a:txBody>
                  <a:tcPr/>
                </a:tc>
                <a:tc>
                  <a:txBody>
                    <a:bodyPr/>
                    <a:p>
                      <a:pPr>
                        <a:buNone/>
                      </a:pPr>
                      <a:r>
                        <a:rPr lang="en-US" altLang="zh-CN" sz="1800">
                          <a:sym typeface="+mn-ea"/>
                        </a:rPr>
                        <a:t>The Toaster: You turn a dial to 3 minutes, and the toaster heats up. The toaster has no idea if your bread is perfectly golden or actively catching fire. It executes its instructions blindly without checking the environment</a:t>
                      </a:r>
                      <a:endParaRPr lang="zh-CN" altLang="en-US"/>
                    </a:p>
                  </a:txBody>
                  <a:tcPr/>
                </a:tc>
                <a:tc>
                  <a:txBody>
                    <a:bodyPr/>
                    <a:p>
                      <a:pPr>
                        <a:buNone/>
                      </a:pPr>
                      <a:r>
                        <a:rPr lang="en-US" altLang="zh-CN"/>
                        <a:t>prompt </a:t>
                      </a:r>
                      <a:r>
                        <a:rPr lang="en-US" altLang="zh-CN"/>
                        <a:t>engineering, </a:t>
                      </a:r>
                      <a:endParaRPr lang="en-US" altLang="zh-CN"/>
                    </a:p>
                    <a:p>
                      <a:pPr>
                        <a:buNone/>
                      </a:pPr>
                      <a:r>
                        <a:rPr lang="en-US" altLang="zh-CN"/>
                        <a:t>context engineering (detailed open loop system)</a:t>
                      </a:r>
                      <a:endParaRPr lang="en-US" altLang="zh-CN"/>
                    </a:p>
                  </a:txBody>
                  <a:tcPr/>
                </a:tc>
              </a:tr>
              <a:tr h="1762760">
                <a:tc>
                  <a:txBody>
                    <a:bodyPr/>
                    <a:p>
                      <a:pPr>
                        <a:buNone/>
                      </a:pPr>
                      <a:r>
                        <a:rPr lang="en-US" altLang="zh-CN"/>
                        <a:t>closed loop system</a:t>
                      </a:r>
                      <a:endParaRPr lang="en-US" altLang="zh-CN"/>
                    </a:p>
                  </a:txBody>
                  <a:tcPr/>
                </a:tc>
                <a:tc>
                  <a:txBody>
                    <a:bodyPr/>
                    <a:p>
                      <a:pPr>
                        <a:buNone/>
                      </a:pPr>
                      <a:r>
                        <a:rPr lang="en-US" altLang="zh-CN" sz="1800">
                          <a:sym typeface="+mn-ea"/>
                        </a:rPr>
                        <a:t>The Thermostat: You set a target temperature. The thermostat continually measures the room’s actual temperature, calculates the error, and automatically adjusts the HVAC output until the target is met.</a:t>
                      </a:r>
                      <a:endParaRPr lang="en-US" altLang="zh-CN" sz="1800"/>
                    </a:p>
                    <a:p>
                      <a:pPr>
                        <a:buNone/>
                      </a:pPr>
                      <a:endParaRPr lang="zh-CN" altLang="en-US"/>
                    </a:p>
                  </a:txBody>
                  <a:tcPr/>
                </a:tc>
                <a:tc>
                  <a:txBody>
                    <a:bodyPr/>
                    <a:p>
                      <a:pPr>
                        <a:buNone/>
                      </a:pPr>
                      <a:r>
                        <a:rPr lang="en-US" altLang="zh-CN"/>
                        <a:t>harness engineering</a:t>
                      </a:r>
                      <a:endParaRPr lang="en-US" altLang="zh-CN"/>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Closed-Loop Control Systems</a:t>
            </a:r>
            <a:endParaRPr lang="en-US" altLang="zh-CN"/>
          </a:p>
        </p:txBody>
      </p:sp>
      <p:pic>
        <p:nvPicPr>
          <p:cNvPr id="3" name="图片 2"/>
          <p:cNvPicPr>
            <a:picLocks noChangeAspect="1"/>
          </p:cNvPicPr>
          <p:nvPr/>
        </p:nvPicPr>
        <p:blipFill>
          <a:blip r:embed="rId1"/>
          <a:stretch>
            <a:fillRect/>
          </a:stretch>
        </p:blipFill>
        <p:spPr>
          <a:xfrm>
            <a:off x="2447925" y="1733550"/>
            <a:ext cx="7296150" cy="3723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Map to Harness Engineering</a:t>
            </a:r>
            <a:endParaRPr lang="en-US" altLang="zh-CN"/>
          </a:p>
        </p:txBody>
      </p:sp>
      <p:sp>
        <p:nvSpPr>
          <p:cNvPr id="3" name="内容占位符 2"/>
          <p:cNvSpPr>
            <a:spLocks noGrp="1"/>
          </p:cNvSpPr>
          <p:nvPr>
            <p:ph idx="1"/>
          </p:nvPr>
        </p:nvSpPr>
        <p:spPr/>
        <p:txBody>
          <a:bodyPr>
            <a:normAutofit lnSpcReduction="10000"/>
          </a:bodyPr>
          <a:p>
            <a:pPr marL="0" indent="0">
              <a:buNone/>
            </a:pPr>
            <a:r>
              <a:rPr lang="en-US" altLang="zh-CN"/>
              <a:t>We use coding agent as an example: </a:t>
            </a:r>
            <a:endParaRPr lang="en-US" altLang="zh-CN"/>
          </a:p>
          <a:p>
            <a:pPr marL="0" indent="0">
              <a:buNone/>
            </a:pPr>
            <a:endParaRPr lang="en-US" altLang="zh-CN"/>
          </a:p>
        </p:txBody>
      </p:sp>
      <p:graphicFrame>
        <p:nvGraphicFramePr>
          <p:cNvPr id="6" name="表格 5"/>
          <p:cNvGraphicFramePr/>
          <p:nvPr/>
        </p:nvGraphicFramePr>
        <p:xfrm>
          <a:off x="838200" y="2545715"/>
          <a:ext cx="8532495" cy="2286000"/>
        </p:xfrm>
        <a:graphic>
          <a:graphicData uri="http://schemas.openxmlformats.org/drawingml/2006/table">
            <a:tbl>
              <a:tblPr firstRow="1" bandRow="1">
                <a:tableStyleId>{5C22544A-7EE6-4342-B048-85BDC9FD1C3A}</a:tableStyleId>
              </a:tblPr>
              <a:tblGrid>
                <a:gridCol w="2844165"/>
                <a:gridCol w="2844165"/>
                <a:gridCol w="2844165"/>
              </a:tblGrid>
              <a:tr h="381000">
                <a:tc>
                  <a:txBody>
                    <a:bodyPr/>
                    <a:p>
                      <a:pPr>
                        <a:buNone/>
                      </a:pPr>
                      <a:r>
                        <a:rPr lang="en-US" altLang="zh-CN"/>
                        <a:t>Closed Loop Control</a:t>
                      </a:r>
                      <a:endParaRPr lang="en-US" altLang="zh-CN"/>
                    </a:p>
                  </a:txBody>
                  <a:tcPr/>
                </a:tc>
                <a:tc>
                  <a:txBody>
                    <a:bodyPr/>
                    <a:p>
                      <a:pPr>
                        <a:buNone/>
                      </a:pPr>
                      <a:r>
                        <a:rPr lang="en-US" altLang="zh-CN"/>
                        <a:t>Harness Engineering</a:t>
                      </a:r>
                      <a:endParaRPr lang="en-US" altLang="zh-CN"/>
                    </a:p>
                  </a:txBody>
                  <a:tcPr/>
                </a:tc>
                <a:tc>
                  <a:txBody>
                    <a:bodyPr/>
                    <a:p>
                      <a:pPr>
                        <a:buNone/>
                      </a:pPr>
                      <a:r>
                        <a:rPr lang="en-US" altLang="zh-CN"/>
                        <a:t>examples</a:t>
                      </a:r>
                      <a:endParaRPr lang="en-US" altLang="zh-CN"/>
                    </a:p>
                  </a:txBody>
                  <a:tcPr/>
                </a:tc>
              </a:tr>
              <a:tr h="381000">
                <a:tc>
                  <a:txBody>
                    <a:bodyPr/>
                    <a:p>
                      <a:pPr>
                        <a:buNone/>
                      </a:pPr>
                      <a:r>
                        <a:rPr lang="en-US" altLang="zh-CN"/>
                        <a:t>Target Setpoint</a:t>
                      </a:r>
                      <a:endParaRPr lang="en-US" altLang="zh-CN"/>
                    </a:p>
                  </a:txBody>
                  <a:tcPr/>
                </a:tc>
                <a:tc>
                  <a:txBody>
                    <a:bodyPr/>
                    <a:p>
                      <a:pPr>
                        <a:buNone/>
                      </a:pPr>
                      <a:r>
                        <a:rPr lang="en-US" altLang="zh-CN"/>
                        <a:t>user intent or prompt</a:t>
                      </a:r>
                      <a:endParaRPr lang="en-US" altLang="zh-CN"/>
                    </a:p>
                  </a:txBody>
                  <a:tcPr/>
                </a:tc>
                <a:tc>
                  <a:txBody>
                    <a:bodyPr/>
                    <a:p>
                      <a:pPr>
                        <a:buNone/>
                      </a:pPr>
                      <a:r>
                        <a:rPr lang="en-US" altLang="zh-CN" sz="1800">
                          <a:sym typeface="+mn-ea"/>
                        </a:rPr>
                        <a:t>develop some features</a:t>
                      </a:r>
                      <a:endParaRPr lang="zh-CN" altLang="en-US"/>
                    </a:p>
                  </a:txBody>
                  <a:tcPr/>
                </a:tc>
              </a:tr>
              <a:tr h="381000">
                <a:tc>
                  <a:txBody>
                    <a:bodyPr/>
                    <a:p>
                      <a:pPr>
                        <a:buNone/>
                      </a:pPr>
                      <a:r>
                        <a:rPr lang="en-US" altLang="zh-CN" sz="1800">
                          <a:sym typeface="+mn-ea"/>
                        </a:rPr>
                        <a:t>Comparator</a:t>
                      </a:r>
                      <a:endParaRPr lang="zh-CN" altLang="en-US"/>
                    </a:p>
                  </a:txBody>
                  <a:tcPr/>
                </a:tc>
                <a:tc>
                  <a:txBody>
                    <a:bodyPr/>
                    <a:p>
                      <a:pPr>
                        <a:buNone/>
                      </a:pPr>
                      <a:r>
                        <a:rPr lang="en-US" altLang="zh-CN" sz="1800">
                          <a:sym typeface="+mn-ea"/>
                        </a:rPr>
                        <a:t>verify if user intent is done</a:t>
                      </a:r>
                      <a:endParaRPr lang="zh-CN" altLang="en-US"/>
                    </a:p>
                  </a:txBody>
                  <a:tcPr/>
                </a:tc>
                <a:tc>
                  <a:txBody>
                    <a:bodyPr/>
                    <a:p>
                      <a:pPr>
                        <a:buNone/>
                      </a:pPr>
                      <a:r>
                        <a:rPr lang="en-US" altLang="zh-CN" sz="1800">
                          <a:sym typeface="+mn-ea"/>
                        </a:rPr>
                        <a:t>LLM judge</a:t>
                      </a:r>
                      <a:endParaRPr lang="zh-CN" altLang="en-US"/>
                    </a:p>
                  </a:txBody>
                  <a:tcPr/>
                </a:tc>
              </a:tr>
              <a:tr h="381000">
                <a:tc>
                  <a:txBody>
                    <a:bodyPr/>
                    <a:p>
                      <a:pPr>
                        <a:buNone/>
                      </a:pPr>
                      <a:r>
                        <a:rPr lang="en-US" altLang="zh-CN" sz="1800">
                          <a:sym typeface="+mn-ea"/>
                        </a:rPr>
                        <a:t>Actuator</a:t>
                      </a:r>
                      <a:endParaRPr lang="zh-CN" altLang="en-US"/>
                    </a:p>
                  </a:txBody>
                  <a:tcPr/>
                </a:tc>
                <a:tc>
                  <a:txBody>
                    <a:bodyPr/>
                    <a:p>
                      <a:pPr>
                        <a:buNone/>
                      </a:pPr>
                      <a:r>
                        <a:rPr lang="en-US" altLang="zh-CN" sz="1800">
                          <a:sym typeface="+mn-ea"/>
                        </a:rPr>
                        <a:t>tools that empower LLM</a:t>
                      </a:r>
                      <a:endParaRPr lang="zh-CN" altLang="en-US"/>
                    </a:p>
                  </a:txBody>
                  <a:tcPr/>
                </a:tc>
                <a:tc>
                  <a:txBody>
                    <a:bodyPr/>
                    <a:p>
                      <a:pPr>
                        <a:buNone/>
                      </a:pPr>
                      <a:r>
                        <a:rPr lang="en-US" altLang="zh-CN" sz="1800">
                          <a:sym typeface="+mn-ea"/>
                        </a:rPr>
                        <a:t>read, write, search, pytest</a:t>
                      </a:r>
                      <a:endParaRPr lang="zh-CN" altLang="en-US"/>
                    </a:p>
                  </a:txBody>
                  <a:tcPr/>
                </a:tc>
              </a:tr>
              <a:tr h="381000">
                <a:tc>
                  <a:txBody>
                    <a:bodyPr/>
                    <a:p>
                      <a:pPr>
                        <a:buNone/>
                      </a:pPr>
                      <a:r>
                        <a:rPr lang="en-US" altLang="zh-CN" sz="1800">
                          <a:sym typeface="+mn-ea"/>
                        </a:rPr>
                        <a:t>Plant</a:t>
                      </a:r>
                      <a:endParaRPr lang="zh-CN" altLang="en-US"/>
                    </a:p>
                  </a:txBody>
                  <a:tcPr/>
                </a:tc>
                <a:tc>
                  <a:txBody>
                    <a:bodyPr/>
                    <a:p>
                      <a:pPr>
                        <a:buNone/>
                      </a:pPr>
                      <a:r>
                        <a:rPr lang="en-US" altLang="zh-CN"/>
                        <a:t>the environment</a:t>
                      </a:r>
                      <a:endParaRPr lang="en-US" altLang="zh-CN"/>
                    </a:p>
                  </a:txBody>
                  <a:tcPr/>
                </a:tc>
                <a:tc>
                  <a:txBody>
                    <a:bodyPr/>
                    <a:p>
                      <a:pPr>
                        <a:buNone/>
                      </a:pPr>
                      <a:r>
                        <a:rPr lang="en-US" altLang="zh-CN" sz="1800">
                          <a:sym typeface="+mn-ea"/>
                        </a:rPr>
                        <a:t>code base, </a:t>
                      </a:r>
                      <a:endParaRPr lang="en-US" altLang="zh-CN" sz="1800">
                        <a:sym typeface="+mn-ea"/>
                      </a:endParaRPr>
                    </a:p>
                    <a:p>
                      <a:pPr>
                        <a:buNone/>
                      </a:pPr>
                      <a:r>
                        <a:rPr lang="en-US" altLang="zh-CN" sz="1800">
                          <a:sym typeface="+mn-ea"/>
                        </a:rPr>
                        <a:t>sandbox that execute tools</a:t>
                      </a:r>
                      <a:endParaRPr lang="zh-CN" altLang="en-US"/>
                    </a:p>
                  </a:txBody>
                  <a:tcPr/>
                </a:tc>
              </a:tr>
              <a:tr h="381000">
                <a:tc>
                  <a:txBody>
                    <a:bodyPr/>
                    <a:p>
                      <a:pPr>
                        <a:buNone/>
                      </a:pPr>
                      <a:r>
                        <a:rPr lang="en-US" altLang="zh-CN" sz="1800">
                          <a:sym typeface="+mn-ea"/>
                        </a:rPr>
                        <a:t>Sensors</a:t>
                      </a:r>
                      <a:endParaRPr lang="zh-CN" altLang="en-US"/>
                    </a:p>
                  </a:txBody>
                  <a:tcPr/>
                </a:tc>
                <a:tc>
                  <a:txBody>
                    <a:bodyPr/>
                    <a:p>
                      <a:pPr>
                        <a:buNone/>
                      </a:pPr>
                      <a:r>
                        <a:rPr lang="en-US" altLang="zh-CN" sz="1800">
                          <a:sym typeface="+mn-ea"/>
                        </a:rPr>
                        <a:t>feedback for tool execution</a:t>
                      </a:r>
                      <a:endParaRPr lang="zh-CN" altLang="en-US"/>
                    </a:p>
                  </a:txBody>
                  <a:tcPr/>
                </a:tc>
                <a:tc>
                  <a:txBody>
                    <a:bodyPr/>
                    <a:p>
                      <a:pPr>
                        <a:buNone/>
                      </a:pPr>
                      <a:r>
                        <a:rPr lang="en-US" altLang="zh-CN"/>
                        <a:t>logs or results of tool execution</a:t>
                      </a:r>
                      <a:endParaRPr lang="en-US" altLang="zh-CN"/>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New Modules for Harness Engineering</a:t>
            </a:r>
            <a:endParaRPr lang="en-US" altLang="zh-CN"/>
          </a:p>
        </p:txBody>
      </p:sp>
      <p:pic>
        <p:nvPicPr>
          <p:cNvPr id="5" name="内容占位符 4"/>
          <p:cNvPicPr>
            <a:picLocks noChangeAspect="1"/>
          </p:cNvPicPr>
          <p:nvPr>
            <p:ph idx="1"/>
          </p:nvPr>
        </p:nvPicPr>
        <p:blipFill>
          <a:blip r:embed="rId1"/>
          <a:stretch>
            <a:fillRect/>
          </a:stretch>
        </p:blipFill>
        <p:spPr>
          <a:xfrm>
            <a:off x="5490210" y="1616710"/>
            <a:ext cx="5980430" cy="3262630"/>
          </a:xfrm>
          <a:prstGeom prst="rect">
            <a:avLst/>
          </a:prstGeom>
        </p:spPr>
      </p:pic>
      <p:sp>
        <p:nvSpPr>
          <p:cNvPr id="6" name="文本框 5"/>
          <p:cNvSpPr txBox="1"/>
          <p:nvPr/>
        </p:nvSpPr>
        <p:spPr>
          <a:xfrm>
            <a:off x="960755" y="1497965"/>
            <a:ext cx="4169410" cy="3381375"/>
          </a:xfrm>
          <a:prstGeom prst="rect">
            <a:avLst/>
          </a:prstGeom>
          <a:noFill/>
        </p:spPr>
        <p:txBody>
          <a:bodyPr wrap="square" rtlCol="0">
            <a:noAutofit/>
          </a:bodyPr>
          <a:p>
            <a:pPr marL="342900" indent="-342900">
              <a:buAutoNum type="arabicPeriod"/>
            </a:pPr>
            <a:r>
              <a:rPr lang="en-US" altLang="zh-CN"/>
              <a:t>Governance</a:t>
            </a:r>
            <a:endParaRPr lang="en-US" altLang="zh-CN"/>
          </a:p>
          <a:p>
            <a:pPr marL="800100" lvl="1" indent="-342900">
              <a:buFont typeface="Arial" panose="020B0604020202020204" pitchFamily="34" charset="0"/>
              <a:buChar char="•"/>
            </a:pPr>
            <a:r>
              <a:rPr lang="en-US" altLang="zh-CN"/>
              <a:t>LLM is a probabilistic generator and subject to prompt injection,</a:t>
            </a:r>
            <a:endParaRPr lang="en-US" altLang="zh-CN"/>
          </a:p>
          <a:p>
            <a:pPr marL="800100" lvl="1" indent="-342900">
              <a:buFont typeface="Arial" panose="020B0604020202020204" pitchFamily="34" charset="0"/>
              <a:buChar char="•"/>
            </a:pPr>
            <a:r>
              <a:rPr lang="en-US" altLang="zh-CN"/>
              <a:t>Cannot directly interact with env </a:t>
            </a:r>
            <a:endParaRPr lang="en-US" altLang="zh-CN"/>
          </a:p>
          <a:p>
            <a:pPr marL="800100" lvl="1" indent="-342900">
              <a:buFont typeface="Arial" panose="020B0604020202020204" pitchFamily="34" charset="0"/>
              <a:buChar char="•"/>
            </a:pPr>
            <a:r>
              <a:rPr lang="en-US" altLang="zh-CN"/>
              <a:t>Thus need to validate LLM output before actual execution</a:t>
            </a:r>
            <a:endParaRPr lang="en-US" altLang="zh-CN"/>
          </a:p>
          <a:p>
            <a:pPr marL="342900" lvl="0" indent="-342900">
              <a:buFont typeface="Arial" panose="020B0604020202020204" pitchFamily="34" charset="0"/>
              <a:buAutoNum type="arabicPeriod"/>
            </a:pPr>
            <a:r>
              <a:rPr lang="en-US" altLang="zh-CN"/>
              <a:t>Lifecycle and Context</a:t>
            </a:r>
            <a:endParaRPr lang="en-US" altLang="zh-CN"/>
          </a:p>
          <a:p>
            <a:pPr marL="800100" lvl="1" indent="-342900">
              <a:buFont typeface="Arial" panose="020B0604020202020204" pitchFamily="34" charset="0"/>
              <a:buChar char="•"/>
            </a:pPr>
            <a:r>
              <a:rPr lang="en-US" altLang="zh-CN"/>
              <a:t>Similar to architect of computer </a:t>
            </a:r>
            <a:endParaRPr lang="en-US" altLang="zh-CN"/>
          </a:p>
          <a:p>
            <a:pPr marL="800100" lvl="1" indent="-342900">
              <a:buFont typeface="Arial" panose="020B0604020202020204" pitchFamily="34" charset="0"/>
              <a:buChar char="•"/>
            </a:pPr>
            <a:r>
              <a:rPr lang="en-US" altLang="zh-CN"/>
              <a:t>Lifecycle or Orchestration: CPU, </a:t>
            </a:r>
            <a:r>
              <a:rPr lang="en-US" altLang="zh-CN"/>
              <a:t>determine what to do next (controller)</a:t>
            </a:r>
            <a:endParaRPr lang="en-US" altLang="zh-CN"/>
          </a:p>
          <a:p>
            <a:pPr marL="800100" lvl="1" indent="-342900">
              <a:buFont typeface="Arial" panose="020B0604020202020204" pitchFamily="34" charset="0"/>
              <a:buChar char="•"/>
            </a:pPr>
            <a:r>
              <a:rPr lang="en-US" altLang="zh-CN"/>
              <a:t>Context: RAM, record the data (state)</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Summary of ETCLOVG Fram</a:t>
            </a:r>
            <a:r>
              <a:rPr lang="en-US" altLang="zh-CN"/>
              <a:t>ework </a:t>
            </a:r>
            <a:endParaRPr lang="en-US" altLang="zh-CN"/>
          </a:p>
        </p:txBody>
      </p:sp>
      <p:graphicFrame>
        <p:nvGraphicFramePr>
          <p:cNvPr id="4" name="表格 3"/>
          <p:cNvGraphicFramePr/>
          <p:nvPr/>
        </p:nvGraphicFramePr>
        <p:xfrm>
          <a:off x="822231" y="2062480"/>
          <a:ext cx="9741535" cy="3108960"/>
        </p:xfrm>
        <a:graphic>
          <a:graphicData uri="http://schemas.openxmlformats.org/drawingml/2006/table">
            <a:tbl>
              <a:tblPr/>
              <a:tblGrid>
                <a:gridCol w="2693035"/>
                <a:gridCol w="2399030"/>
                <a:gridCol w="4649470"/>
              </a:tblGrid>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Harness Layer (ETCLOVG)</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solidFill>
                      <a:srgbClr val="EBECED"/>
                    </a:solid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Control Theory Component</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solidFill>
                      <a:srgbClr val="EBECED"/>
                    </a:solid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Core Engineering Function</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solidFill>
                      <a:srgbClr val="EBECED"/>
                    </a:solidFill>
                  </a:tcPr>
                </a:tc>
              </a:tr>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Execution Environment &amp; Sandbox</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Plant</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isolated compute space (e.g., Docker) where actions physically execute.</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Tool Interface &amp; Protocol</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Actuator</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Translates the controller's digital intentions into valid external API or system actions.</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r h="170815">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Context &amp; Memory Management</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State Estimator</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Filters out background noise, feeding the model only the vital active state variables.</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Lifecycle &amp; Orchestration</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Main Controller Clock</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deterministic state-machine loop driving the operational timeline (Think -&gt; Act -&gt; Read).</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Observability &amp; Operations</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Sensors</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Passively logs, traces, and metrics execution paths and token telemetry.</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Verification &amp; Evaluation</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Comparator</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Evaluates outputs against tests to calculate error, routing corrections back into the loop.</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r h="182880">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Governance &amp; Security</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The Saturation Limiter</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c>
                  <a:txBody>
                    <a:bodyPr/>
                    <a:p>
                      <a:pPr>
                        <a:lnSpc>
                          <a:spcPts val="1440"/>
                        </a:lnSpc>
                      </a:pPr>
                      <a:r>
                        <a:rPr lang="en-US" altLang="zh-CN" sz="1100" b="0" i="0">
                          <a:solidFill>
                            <a:srgbClr val="191B1F"/>
                          </a:solidFill>
                          <a:latin typeface="微软雅黑" panose="020B0503020204020204" charset="-122"/>
                          <a:ea typeface="微软雅黑" panose="020B0503020204020204" charset="-122"/>
                        </a:rPr>
                        <a:t>Intercepts commands and revokes permissions if the system violates safety boundaries.</a:t>
                      </a:r>
                      <a:endParaRPr lang="en-US" altLang="zh-CN" sz="1100" b="0" i="0">
                        <a:solidFill>
                          <a:srgbClr val="191B1F"/>
                        </a:solidFill>
                        <a:latin typeface="微软雅黑" panose="020B0503020204020204" charset="-122"/>
                        <a:ea typeface="微软雅黑" panose="020B0503020204020204" charset="-122"/>
                      </a:endParaRPr>
                    </a:p>
                  </a:txBody>
                  <a:tcPr marL="91757" marR="91757" marT="23177" marB="23177" anchor="ctr" anchorCtr="0">
                    <a:lnL w="7620" cap="flat" cmpd="sng">
                      <a:solidFill>
                        <a:srgbClr val="C4C7CE"/>
                      </a:solidFill>
                      <a:prstDash val="solid"/>
                      <a:headEnd type="none" w="med" len="med"/>
                      <a:tailEnd type="none" w="med" len="med"/>
                    </a:lnL>
                    <a:lnR w="7620" cap="flat" cmpd="sng">
                      <a:solidFill>
                        <a:srgbClr val="C4C7CE"/>
                      </a:solidFill>
                      <a:prstDash val="solid"/>
                      <a:headEnd type="none" w="med" len="med"/>
                      <a:tailEnd type="none" w="med" len="med"/>
                    </a:lnR>
                    <a:lnT w="7620" cap="flat" cmpd="sng">
                      <a:solidFill>
                        <a:srgbClr val="C4C7CE"/>
                      </a:solidFill>
                      <a:prstDash val="solid"/>
                      <a:headEnd type="none" w="med" len="med"/>
                      <a:tailEnd type="none" w="med" len="med"/>
                    </a:lnT>
                    <a:lnB w="7620" cap="flat" cmpd="sng">
                      <a:solidFill>
                        <a:srgbClr val="C4C7CE"/>
                      </a:solidFill>
                      <a:prstDash val="soli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Orchestration Today</a:t>
            </a:r>
            <a:endParaRPr lang="en-US" altLang="zh-CN"/>
          </a:p>
        </p:txBody>
      </p:sp>
      <p:sp>
        <p:nvSpPr>
          <p:cNvPr id="3" name="内容占位符 2"/>
          <p:cNvSpPr>
            <a:spLocks noGrp="1"/>
          </p:cNvSpPr>
          <p:nvPr>
            <p:ph idx="1"/>
          </p:nvPr>
        </p:nvSpPr>
        <p:spPr/>
        <p:txBody>
          <a:bodyPr/>
          <a:p>
            <a:r>
              <a:rPr lang="en-US" altLang="zh-CN"/>
              <a:t>No complex workflow</a:t>
            </a:r>
            <a:endParaRPr lang="en-US" altLang="zh-CN"/>
          </a:p>
          <a:p>
            <a:r>
              <a:rPr lang="en-US" altLang="zh-CN"/>
              <a:t>Trust the reason ability of LLM</a:t>
            </a:r>
            <a:endParaRPr lang="en-US" altLang="zh-CN"/>
          </a:p>
          <a:p>
            <a:r>
              <a:rPr lang="en-US" altLang="zh-CN"/>
              <a:t>So the modern structure is just a </a:t>
            </a:r>
            <a:r>
              <a:rPr lang="en-US" altLang="zh-CN" b="1"/>
              <a:t>closed loop control</a:t>
            </a:r>
            <a:r>
              <a:rPr lang="en-US" altLang="zh-CN"/>
              <a:t> that </a:t>
            </a:r>
            <a:endParaRPr lang="en-US" altLang="zh-CN"/>
          </a:p>
          <a:p>
            <a:pPr lvl="1"/>
            <a:r>
              <a:rPr lang="en-US" altLang="zh-CN"/>
              <a:t>LLM to determine to what to do next </a:t>
            </a:r>
            <a:endParaRPr lang="en-US" altLang="zh-CN"/>
          </a:p>
          <a:p>
            <a:pPr lvl="1"/>
            <a:r>
              <a:rPr lang="en-US" altLang="zh-CN"/>
              <a:t>the harness executes the tools and return the results to LLM</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Comparator(Verification)</a:t>
            </a:r>
            <a:endParaRPr lang="en-US" altLang="zh-CN"/>
          </a:p>
        </p:txBody>
      </p:sp>
      <p:sp>
        <p:nvSpPr>
          <p:cNvPr id="3" name="内容占位符 2"/>
          <p:cNvSpPr>
            <a:spLocks noGrp="1"/>
          </p:cNvSpPr>
          <p:nvPr>
            <p:ph idx="1"/>
          </p:nvPr>
        </p:nvSpPr>
        <p:spPr/>
        <p:txBody>
          <a:bodyPr>
            <a:normAutofit/>
          </a:bodyPr>
          <a:p>
            <a:r>
              <a:rPr lang="en-US" altLang="zh-CN">
                <a:sym typeface="+mn-ea"/>
              </a:rPr>
              <a:t>The Stateless, Contract-First Filter</a:t>
            </a:r>
            <a:endParaRPr lang="en-US" altLang="zh-CN"/>
          </a:p>
          <a:p>
            <a:r>
              <a:rPr lang="en-US" altLang="zh-CN"/>
              <a:t>Seperation of genertor and evaluator </a:t>
            </a:r>
            <a:endParaRPr lang="en-US" altLang="zh-CN"/>
          </a:p>
          <a:p>
            <a:pPr lvl="1"/>
            <a:r>
              <a:rPr lang="en-US" altLang="zh-CN" sz="2400"/>
              <a:t>Confirmation bias: LLM tends to believe in what it output</a:t>
            </a:r>
            <a:endParaRPr lang="en-US" altLang="zh-CN" sz="2400"/>
          </a:p>
          <a:p>
            <a:pPr lvl="1"/>
            <a:r>
              <a:rPr lang="en-US" altLang="zh-CN"/>
              <a:t>Token cost inflation: the evaluator doesn’t need the history. A clean context will make the evalutor fast, unbiased and save tokens</a:t>
            </a:r>
            <a:endParaRPr lang="en-US" altLang="zh-CN"/>
          </a:p>
          <a:p>
            <a:r>
              <a:rPr lang="en-US" altLang="zh-CN"/>
              <a:t>Contract-first </a:t>
            </a:r>
            <a:endParaRPr lang="en-US" altLang="zh-CN"/>
          </a:p>
          <a:p>
            <a:pPr lvl="1"/>
            <a:r>
              <a:rPr lang="en-US" altLang="zh-CN" sz="2400"/>
              <a:t>Semantic drift, especially for hard task that run for many turns, the LLM will cheat and finish</a:t>
            </a:r>
            <a:endParaRPr lang="en-US" altLang="zh-CN" sz="2400"/>
          </a:p>
          <a:p>
            <a:pPr lvl="1"/>
            <a:r>
              <a:rPr lang="en-US" altLang="zh-CN"/>
              <a:t>Let the generator and evaluator to agree on what to implement and measures of completion at the beginning of the session</a:t>
            </a:r>
            <a:endParaRPr lang="en-US" altLang="zh-CN"/>
          </a:p>
          <a:p>
            <a:pPr marL="0" indent="0">
              <a:buNone/>
            </a:pPr>
            <a:endParaRPr lang="en-US" altLang="zh-CN"/>
          </a:p>
          <a:p>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Governance</a:t>
            </a:r>
            <a:endParaRPr lang="en-US" altLang="zh-CN"/>
          </a:p>
        </p:txBody>
      </p:sp>
      <p:sp>
        <p:nvSpPr>
          <p:cNvPr id="3" name="内容占位符 2"/>
          <p:cNvSpPr>
            <a:spLocks noGrp="1"/>
          </p:cNvSpPr>
          <p:nvPr>
            <p:ph idx="1"/>
          </p:nvPr>
        </p:nvSpPr>
        <p:spPr/>
        <p:txBody>
          <a:bodyPr/>
          <a:p>
            <a:r>
              <a:rPr lang="en-US" altLang="zh-CN"/>
              <a:t>Seperation of LLM output and tool execution </a:t>
            </a:r>
            <a:endParaRPr lang="en-US" altLang="zh-CN"/>
          </a:p>
          <a:p>
            <a:pPr lvl="1"/>
            <a:r>
              <a:rPr lang="en-US" altLang="zh-CN"/>
              <a:t>LLM output is probabilistic and hence not reliable, use deterministic tool instead </a:t>
            </a:r>
            <a:endParaRPr lang="en-US" altLang="zh-CN"/>
          </a:p>
          <a:p>
            <a:pPr lvl="1"/>
            <a:r>
              <a:rPr lang="en-US" altLang="zh-CN"/>
              <a:t>Validate LLM output before sending for tool execution</a:t>
            </a:r>
            <a:endParaRPr lang="en-US" altLang="zh-CN"/>
          </a:p>
          <a:p>
            <a:pPr lvl="1"/>
            <a:r>
              <a:rPr lang="en-US" altLang="zh-CN"/>
              <a:t>Permission management, etc</a:t>
            </a:r>
            <a:endParaRPr lang="en-US" altLang="zh-CN"/>
          </a:p>
          <a:p>
            <a:pPr lvl="0"/>
            <a:r>
              <a:rPr lang="en-US" altLang="zh-CN"/>
              <a:t>Seperation of tool execution with real </a:t>
            </a:r>
            <a:r>
              <a:rPr lang="en-US" altLang="zh-CN"/>
              <a:t>code base </a:t>
            </a:r>
            <a:endParaRPr lang="en-US" altLang="zh-CN"/>
          </a:p>
          <a:p>
            <a:pPr lvl="1"/>
            <a:r>
              <a:rPr lang="en-US" altLang="zh-CN"/>
              <a:t>Sandbox</a:t>
            </a:r>
            <a:endParaRPr lang="en-US" altLang="zh-CN"/>
          </a:p>
          <a:p>
            <a:pPr lvl="1"/>
            <a:r>
              <a:rPr lang="en-US" altLang="zh-CN"/>
              <a:t>The wrong execution would not ruin the real environment</a:t>
            </a:r>
            <a:endParaRPr lang="en-US" altLang="zh-CN"/>
          </a:p>
          <a:p>
            <a:pPr lvl="1"/>
            <a:endParaRPr lang="en-US" altLang="zh-CN"/>
          </a:p>
          <a:p>
            <a:pPr lvl="1"/>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Tools and Observability for a Coding Agent</a:t>
            </a:r>
            <a:endParaRPr lang="en-US" altLang="zh-CN"/>
          </a:p>
        </p:txBody>
      </p:sp>
      <p:sp>
        <p:nvSpPr>
          <p:cNvPr id="3" name="内容占位符 2"/>
          <p:cNvSpPr>
            <a:spLocks noGrp="1"/>
          </p:cNvSpPr>
          <p:nvPr>
            <p:ph idx="1"/>
          </p:nvPr>
        </p:nvSpPr>
        <p:spPr/>
        <p:txBody>
          <a:bodyPr>
            <a:normAutofit lnSpcReduction="20000"/>
          </a:bodyPr>
          <a:p>
            <a:r>
              <a:rPr lang="en-US" altLang="zh-CN"/>
              <a:t>Observability: just results of tool execution</a:t>
            </a:r>
            <a:endParaRPr lang="en-US" altLang="zh-CN"/>
          </a:p>
          <a:p>
            <a:r>
              <a:rPr lang="en-US" altLang="zh-CN"/>
              <a:t>Tools</a:t>
            </a:r>
            <a:endParaRPr lang="en-US" altLang="zh-CN"/>
          </a:p>
          <a:p>
            <a:pPr lvl="1"/>
            <a:r>
              <a:rPr lang="en-US" altLang="zh-CN"/>
              <a:t>Discovery, e.g. directory maps, codebase grep, file readers</a:t>
            </a:r>
            <a:endParaRPr lang="en-US" altLang="zh-CN"/>
          </a:p>
          <a:p>
            <a:pPr lvl="1"/>
            <a:r>
              <a:rPr lang="en-US" altLang="zh-CN"/>
              <a:t>Mutation, e.g. write, modify, insert</a:t>
            </a:r>
            <a:endParaRPr lang="en-US" altLang="zh-CN"/>
          </a:p>
          <a:p>
            <a:pPr lvl="1"/>
            <a:r>
              <a:rPr lang="en-US" altLang="zh-CN"/>
              <a:t>Validation, e.g. </a:t>
            </a:r>
            <a:r>
              <a:rPr lang="en-US" altLang="zh-CN"/>
              <a:t>pytest, npm test</a:t>
            </a:r>
            <a:endParaRPr lang="en-US" altLang="zh-CN"/>
          </a:p>
          <a:p>
            <a:pPr lvl="0"/>
            <a:r>
              <a:rPr lang="en-US" altLang="zh-CN"/>
              <a:t>Extension: why it is hard for LLM to win in real world application, e.g. finance, law, medicine</a:t>
            </a:r>
            <a:endParaRPr lang="en-US" altLang="zh-CN"/>
          </a:p>
          <a:p>
            <a:pPr lvl="1"/>
            <a:r>
              <a:rPr lang="en-US" altLang="zh-CN"/>
              <a:t>The key point is observability. </a:t>
            </a:r>
            <a:endParaRPr lang="en-US" altLang="zh-CN"/>
          </a:p>
          <a:p>
            <a:pPr lvl="1"/>
            <a:r>
              <a:rPr lang="en-US" altLang="zh-CN"/>
              <a:t>For coding, the env is standard, you can easily get the feedback by running the code in sandbox</a:t>
            </a:r>
            <a:endParaRPr lang="en-US" altLang="zh-CN"/>
          </a:p>
          <a:p>
            <a:pPr lvl="1"/>
            <a:r>
              <a:rPr lang="en-US" altLang="zh-CN"/>
              <a:t>For law, it is hard to determine whether a writing of contract is right. Maybe it's just a precedent and if you change the writing to a more fluent way, it failed. </a:t>
            </a:r>
            <a:endParaRPr lang="en-US" altLang="zh-CN"/>
          </a:p>
          <a:p>
            <a:pPr lvl="1"/>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Context Management</a:t>
            </a:r>
            <a:endParaRPr lang="en-US" altLang="zh-CN"/>
          </a:p>
        </p:txBody>
      </p:sp>
      <p:sp>
        <p:nvSpPr>
          <p:cNvPr id="3" name="内容占位符 2"/>
          <p:cNvSpPr>
            <a:spLocks noGrp="1"/>
          </p:cNvSpPr>
          <p:nvPr>
            <p:ph idx="1"/>
          </p:nvPr>
        </p:nvSpPr>
        <p:spPr/>
        <p:txBody>
          <a:bodyPr>
            <a:normAutofit/>
          </a:bodyPr>
          <a:p>
            <a:pPr marL="0" indent="0">
              <a:buNone/>
            </a:pPr>
            <a:r>
              <a:rPr lang="en-US" altLang="zh-CN" sz="2800">
                <a:sym typeface="+mn-ea"/>
              </a:rPr>
              <a:t>Make the primary converstion log high signal </a:t>
            </a:r>
            <a:endParaRPr lang="en-US" altLang="zh-CN" sz="2800">
              <a:sym typeface="+mn-ea"/>
            </a:endParaRPr>
          </a:p>
          <a:p>
            <a:pPr lvl="0"/>
            <a:r>
              <a:rPr lang="en-US" altLang="zh-CN" sz="2800">
                <a:sym typeface="+mn-ea"/>
              </a:rPr>
              <a:t>To avoid context rot and behavioral drift</a:t>
            </a:r>
            <a:endParaRPr lang="en-US" altLang="zh-CN" sz="2800">
              <a:sym typeface="+mn-ea"/>
            </a:endParaRPr>
          </a:p>
          <a:p>
            <a:pPr lvl="0"/>
            <a:r>
              <a:rPr lang="en-US" altLang="zh-CN" sz="2800">
                <a:sym typeface="+mn-ea"/>
              </a:rPr>
              <a:t>Save money </a:t>
            </a:r>
            <a:endParaRPr lang="en-US" altLang="zh-CN" sz="2800">
              <a:sym typeface="+mn-ea"/>
            </a:endParaRPr>
          </a:p>
          <a:p>
            <a:pPr lvl="1"/>
            <a:r>
              <a:rPr lang="en-US" altLang="zh-CN" sz="2400">
                <a:sym typeface="+mn-ea"/>
              </a:rPr>
              <a:t>The history is clean and short</a:t>
            </a:r>
            <a:endParaRPr lang="en-US" altLang="zh-CN" sz="2400">
              <a:sym typeface="+mn-ea"/>
            </a:endParaRPr>
          </a:p>
          <a:p>
            <a:pPr lvl="1"/>
            <a:r>
              <a:rPr lang="en-US" altLang="zh-CN" sz="2400">
                <a:sym typeface="+mn-ea"/>
              </a:rPr>
              <a:t>The history is well arranged to leverage the cache mechanism </a:t>
            </a:r>
            <a:endParaRPr lang="en-US" altLang="zh-CN" sz="2400">
              <a:sym typeface="+mn-ea"/>
            </a:endParaRPr>
          </a:p>
          <a:p>
            <a:pPr marL="0" indent="0">
              <a:buNone/>
            </a:pP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Layer A: Primary Workspace Pristineness</a:t>
            </a:r>
            <a:endParaRPr lang="zh-CN" altLang="en-US"/>
          </a:p>
        </p:txBody>
      </p:sp>
      <p:sp>
        <p:nvSpPr>
          <p:cNvPr id="3" name="内容占位符 2"/>
          <p:cNvSpPr>
            <a:spLocks noGrp="1"/>
          </p:cNvSpPr>
          <p:nvPr>
            <p:ph idx="1"/>
          </p:nvPr>
        </p:nvSpPr>
        <p:spPr/>
        <p:txBody>
          <a:bodyPr>
            <a:normAutofit fontScale="70000"/>
          </a:bodyPr>
          <a:p>
            <a:r>
              <a:rPr lang="en-US" altLang="zh-CN">
                <a:sym typeface="+mn-ea"/>
              </a:rPr>
              <a:t>Deterministic Token Ordering: The harness serializes the system prompt from most-stable to least-stable data types (Static Rules -&gt; Tool Catalogs -&gt; Project Specs -&gt; Dialogue History). This locks down the top segment of the prompt sequence, ensuring it remains permanently warm in the provider's server-side Key-Value (KV) prefix cache to slash API latency and costs.</a:t>
            </a:r>
            <a:endParaRPr lang="en-US" altLang="zh-CN"/>
          </a:p>
          <a:p>
            <a:r>
              <a:rPr lang="en-US" altLang="zh-CN">
                <a:sym typeface="+mn-ea"/>
              </a:rPr>
              <a:t>The Progress Artifact (plan.json): Instead of allowing the agent to track its to-do list in conversational text, the harness anchors the state to a structured JSON checklist on the local file system. The model reads and updates this file explicitly, offloading massive cognitive weight from the prompt.</a:t>
            </a:r>
            <a:endParaRPr lang="en-US" altLang="zh-CN"/>
          </a:p>
          <a:p>
            <a:r>
              <a:rPr lang="en-US" altLang="zh-CN">
                <a:sym typeface="+mn-ea"/>
              </a:rPr>
              <a:t>Context Re-Hydration &amp; Amnesia Mitigation: When a context window nears its limit, the harness flushes the LLM session, initializes a clean API container, and re-hydrates the state using only the current codebase state and the plan.json. To prevent the model from repeating past mistakes due to the resulting "history amnesia," the harness tracks a local Directed Acyclic Graph (DAG) of rejected hypotheses and injects them as hard negative constraints.</a:t>
            </a:r>
            <a:endParaRPr lang="en-US" altLang="zh-CN"/>
          </a:p>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Layer C: Sub-Agent Isolation (The Context Firewall)</a:t>
            </a:r>
            <a:endParaRPr lang="zh-CN" altLang="en-US"/>
          </a:p>
        </p:txBody>
      </p:sp>
      <p:sp>
        <p:nvSpPr>
          <p:cNvPr id="3" name="内容占位符 2"/>
          <p:cNvSpPr>
            <a:spLocks noGrp="1"/>
          </p:cNvSpPr>
          <p:nvPr>
            <p:ph idx="1"/>
          </p:nvPr>
        </p:nvSpPr>
        <p:spPr/>
        <p:txBody>
          <a:bodyPr>
            <a:normAutofit fontScale="70000"/>
          </a:bodyPr>
          <a:p>
            <a:pPr marL="0" indent="0">
              <a:buNone/>
            </a:pPr>
            <a:r>
              <a:rPr lang="en-US" altLang="zh-CN"/>
              <a:t>Key: Seperation of main agent and sub-agent’s context and only pass needed information</a:t>
            </a:r>
            <a:endParaRPr lang="en-US" altLang="zh-CN"/>
          </a:p>
          <a:p>
            <a:r>
              <a:rPr lang="en-US" altLang="zh-CN"/>
              <a:t>Hyper-Narrow Mandates: The main harness spawns short-lived, isolated sub-agent containers stripped of unnecessary tools and global context, limiting their access to the narrow scope of the micro-task.</a:t>
            </a:r>
            <a:endParaRPr lang="en-US" altLang="zh-CN"/>
          </a:p>
          <a:p>
            <a:r>
              <a:rPr lang="en-US" altLang="zh-CN"/>
              <a:t>Schema-Driven Return Boundaries: Sub-agents are blocked from returning open-ended text or raw chat logs to the lead agent. They must pass their final breakthrough through a strict local validation schema (e.g., a Pydantic object mapping exactly to status, root_cause_summary, and proposed_patch).</a:t>
            </a:r>
            <a:endParaRPr lang="en-US" altLang="zh-CN"/>
          </a:p>
          <a:p>
            <a:r>
              <a:rPr lang="en-US" altLang="zh-CN"/>
              <a:t>Scratchpad Erasure: The moment the sub-agent satisfies the validation schema, the harness copies the clean JSON object back into the lead context window and completely erases the sub-agent’s entire terminal, log, and token history from RAM. The lead agent gets the distilled solution without inheriting the 200,000 tokens of messy exploration logs.</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Layer B: Tool-Call Telemetry Dieting</a:t>
            </a:r>
            <a:endParaRPr lang="zh-CN" altLang="en-US"/>
          </a:p>
        </p:txBody>
      </p:sp>
      <p:sp>
        <p:nvSpPr>
          <p:cNvPr id="3" name="内容占位符 2"/>
          <p:cNvSpPr>
            <a:spLocks noGrp="1"/>
          </p:cNvSpPr>
          <p:nvPr>
            <p:ph idx="1"/>
          </p:nvPr>
        </p:nvSpPr>
        <p:spPr/>
        <p:txBody>
          <a:bodyPr>
            <a:normAutofit fontScale="60000"/>
          </a:bodyPr>
          <a:p>
            <a:pPr marL="0" indent="0">
              <a:buNone/>
            </a:pPr>
            <a:r>
              <a:rPr lang="en-US" altLang="zh-CN"/>
              <a:t>Similar to sub-agent case, but here we cannot control the output of tools.</a:t>
            </a:r>
            <a:endParaRPr lang="en-US" altLang="zh-CN"/>
          </a:p>
          <a:p>
            <a:r>
              <a:rPr lang="en-US" altLang="zh-CN"/>
              <a:t>Noise Striping: Running local, sub-millisecond regex passes to strip out installer progress bars, redundancy trees, and routine success logs before tokens are spent.</a:t>
            </a:r>
            <a:endParaRPr lang="en-US" altLang="zh-CN"/>
          </a:p>
          <a:p>
            <a:r>
              <a:rPr lang="en-US" altLang="zh-CN"/>
              <a:t>Deterministic High-Entropy Interval Detection: </a:t>
            </a:r>
            <a:endParaRPr lang="en-US" altLang="zh-CN"/>
          </a:p>
          <a:p>
            <a:pPr lvl="1"/>
            <a:r>
              <a:rPr lang="en-US" altLang="zh-CN"/>
              <a:t>Rather than relying on a naive top/bottom crop or forcing the LLM into a high-latency guessing game of paginated reads, the harness locally scans the command stdout to isolate chunks of unexpected or irregular token distributions (such as sudden clusters of tracebacks, hex codes, or warning flags). This local pass calculates the exact start and end lines bounding this high-entropy data interval.</a:t>
            </a:r>
            <a:endParaRPr lang="en-US" altLang="zh-CN"/>
          </a:p>
          <a:p>
            <a:pPr lvl="1"/>
            <a:r>
              <a:rPr lang="en-US" altLang="zh-CN"/>
              <a:t>By serving the model only the text contained within this bounded failure zone, the harness saves tokens based on structural probability. It isolates the exact error signals while filtering out the predictable success metrics surrounding them.</a:t>
            </a:r>
            <a:endParaRPr lang="en-US" altLang="zh-CN"/>
          </a:p>
          <a:p>
            <a:r>
              <a:rPr lang="en-US" altLang="zh-CN"/>
              <a:t>The Index-and-Pointer Pattern: For massive logs, the harness hides the bulk payload entirely and passes a compressed metadata virtual pointer containing the extracted high-entropy line indices:</a:t>
            </a:r>
            <a:endParaRPr lang="en-US" altLang="zh-CN"/>
          </a:p>
          <a:p>
            <a:pPr marL="0" indent="0">
              <a:buNone/>
            </a:pPr>
            <a:r>
              <a:rPr lang="en-US" altLang="zh-CN" i="1"/>
              <a:t>[SYSTEM]: Output exceeded 20KB. High-entropy error interval detected between lines 2410 and 2465. Full log cached at /tmp/build.log. Use read_log_bounds(start=2410, end=2465) to inspect.</a:t>
            </a:r>
            <a:endParaRPr lang="en-US" altLang="zh-CN" i="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Layer D: Dynamic Tool Loading &amp; Registry Pruning</a:t>
            </a:r>
            <a:endParaRPr lang="en-US" altLang="zh-CN"/>
          </a:p>
        </p:txBody>
      </p:sp>
      <p:sp>
        <p:nvSpPr>
          <p:cNvPr id="3" name="内容占位符 2"/>
          <p:cNvSpPr>
            <a:spLocks noGrp="1"/>
          </p:cNvSpPr>
          <p:nvPr>
            <p:ph idx="1"/>
          </p:nvPr>
        </p:nvSpPr>
        <p:spPr/>
        <p:txBody>
          <a:bodyPr>
            <a:normAutofit fontScale="80000"/>
          </a:bodyPr>
          <a:p>
            <a:r>
              <a:rPr lang="en-US" altLang="zh-CN"/>
              <a:t>Lifecycle Phase Gating</a:t>
            </a:r>
            <a:endParaRPr lang="en-US" altLang="zh-CN"/>
          </a:p>
          <a:p>
            <a:pPr lvl="1"/>
            <a:r>
              <a:rPr lang="en-US" altLang="zh-CN"/>
              <a:t>Use different set of tools in different phase (discovery, mutation, validation)</a:t>
            </a:r>
            <a:endParaRPr lang="en-US" altLang="zh-CN"/>
          </a:p>
          <a:p>
            <a:r>
              <a:rPr lang="en-US" altLang="zh-CN"/>
              <a:t>Just-In-Time (JIT) Pre-Flight Routing</a:t>
            </a:r>
            <a:endParaRPr lang="en-US" altLang="zh-CN"/>
          </a:p>
          <a:p>
            <a:pPr lvl="1"/>
            <a:r>
              <a:rPr lang="en-US" altLang="zh-CN"/>
              <a:t>Before the primary reasoning model processes a task, the user intent is parsed by an ultra-fast, local flash model acting as an infrastructure traffic cop. This router model does not execute the objective; its sole job is to emit a clean array of required tool domains. The harness intercepts this array, hydrates the context window exclusively with those matching schemas from the registry, and passes the clean, low-overhead payload to the primary model.</a:t>
            </a:r>
            <a:endParaRPr lang="en-US" altLang="zh-CN"/>
          </a:p>
          <a:p>
            <a:r>
              <a:rPr lang="en-US" altLang="zh-CN"/>
              <a:t>Semantic Embedding Retrieval</a:t>
            </a:r>
            <a:endParaRPr lang="en-US" altLang="zh-CN"/>
          </a:p>
          <a:p>
            <a:pPr lvl="1"/>
            <a:r>
              <a:rPr lang="en-US" altLang="zh-CN"/>
              <a:t>When managing thousands of bespoke enterprise APIs, hardcoded classification breaks down. The harness vectorizes the functional text descriptions of every tool in the registry and stores them in a local vector space. At the start of a processing turn, the current state and error logs are used to run a local similarity search, injecting only the top 5 to 10 most relevant tool definitions into the active prompt window.</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Reasonix’s Design on Model </a:t>
            </a:r>
            <a:r>
              <a:rPr lang="en-US" altLang="zh-CN"/>
              <a:t>Esculation</a:t>
            </a:r>
            <a:endParaRPr lang="en-US" altLang="zh-CN"/>
          </a:p>
        </p:txBody>
      </p:sp>
      <p:sp>
        <p:nvSpPr>
          <p:cNvPr id="3" name="内容占位符 2"/>
          <p:cNvSpPr>
            <a:spLocks noGrp="1"/>
          </p:cNvSpPr>
          <p:nvPr>
            <p:ph idx="1"/>
          </p:nvPr>
        </p:nvSpPr>
        <p:spPr>
          <a:xfrm>
            <a:off x="838200" y="1641475"/>
            <a:ext cx="4902835" cy="4847590"/>
          </a:xfrm>
        </p:spPr>
        <p:txBody>
          <a:bodyPr/>
          <a:p>
            <a:r>
              <a:rPr lang="en-US" altLang="zh-CN"/>
              <a:t>Example: how harness does when LLM outputs malformed syntax</a:t>
            </a:r>
            <a:endParaRPr lang="en-US" altLang="zh-CN"/>
          </a:p>
          <a:p>
            <a:endParaRPr lang="en-US" altLang="zh-CN"/>
          </a:p>
          <a:p>
            <a:r>
              <a:rPr lang="en-US" altLang="zh-CN"/>
              <a:t>This is to show</a:t>
            </a:r>
            <a:endParaRPr lang="en-US" altLang="zh-CN"/>
          </a:p>
          <a:p>
            <a:pPr lvl="1"/>
            <a:r>
              <a:rPr lang="en-US" altLang="zh-CN"/>
              <a:t>Harness prefers deterministic actions</a:t>
            </a:r>
            <a:endParaRPr lang="en-US" altLang="zh-CN"/>
          </a:p>
          <a:p>
            <a:pPr lvl="1"/>
            <a:r>
              <a:rPr lang="en-US" altLang="zh-CN"/>
              <a:t>a system design example of a harness task </a:t>
            </a:r>
            <a:endParaRPr lang="en-US" altLang="zh-CN"/>
          </a:p>
          <a:p>
            <a:pPr lvl="1"/>
            <a:r>
              <a:rPr lang="en-US" altLang="zh-CN"/>
              <a:t>reasonix’s strategy to save money</a:t>
            </a:r>
            <a:endParaRPr lang="en-US" altLang="zh-CN"/>
          </a:p>
        </p:txBody>
      </p:sp>
      <p:pic>
        <p:nvPicPr>
          <p:cNvPr id="4" name="图片 3"/>
          <p:cNvPicPr/>
          <p:nvPr/>
        </p:nvPicPr>
        <p:blipFill>
          <a:blip r:embed="rId1"/>
          <a:stretch>
            <a:fillRect/>
          </a:stretch>
        </p:blipFill>
        <p:spPr>
          <a:xfrm>
            <a:off x="6061710" y="1691005"/>
            <a:ext cx="5448300" cy="4648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Layer 1 &amp; 2</a:t>
            </a:r>
            <a:endParaRPr lang="en-US" altLang="zh-CN"/>
          </a:p>
        </p:txBody>
      </p:sp>
      <p:sp>
        <p:nvSpPr>
          <p:cNvPr id="3" name="内容占位符 2"/>
          <p:cNvSpPr>
            <a:spLocks noGrp="1"/>
          </p:cNvSpPr>
          <p:nvPr>
            <p:ph idx="1"/>
          </p:nvPr>
        </p:nvSpPr>
        <p:spPr/>
        <p:txBody>
          <a:bodyPr>
            <a:normAutofit fontScale="55000"/>
          </a:bodyPr>
          <a:p>
            <a:pPr marL="0" algn="l">
              <a:buClrTx/>
              <a:buSzTx/>
              <a:buNone/>
            </a:pPr>
            <a:r>
              <a:rPr lang="en-US" altLang="zh-CN" sz="3200" b="1"/>
              <a:t>Layer 1: Edge Data Sanitization (Local, &lt;1ms)</a:t>
            </a:r>
            <a:endParaRPr lang="en-US" altLang="zh-CN" sz="3200" b="1"/>
          </a:p>
          <a:p>
            <a:r>
              <a:rPr lang="en-US" altLang="zh-CN"/>
              <a:t>System Analogy:Edge Node Data Sanitization</a:t>
            </a:r>
            <a:endParaRPr lang="en-US" altLang="zh-CN"/>
          </a:p>
          <a:p>
            <a:r>
              <a:rPr lang="en-US" altLang="zh-CN"/>
              <a:t>The Mechanism: The moment a lower-tier model (e.g., DeepSeek-V4-Flash) returns a response, the harness intercepts it locally using Abstract Syntax Tree (AST) or regular expression parsers.</a:t>
            </a:r>
            <a:endParaRPr lang="en-US" altLang="zh-CN"/>
          </a:p>
          <a:p>
            <a:r>
              <a:rPr lang="en-US" altLang="zh-CN"/>
              <a:t>The Logic: If the foundational logic is intact but wrapped in minor structural defects (e.g., clipped JSON wrappers or missing closing XML tags), the harness repairs the envelope instantly on the client side. The execution proceeds smoothly, leveraging the warm cache of the flash model without notifying the external environment of a fault.</a:t>
            </a:r>
            <a:endParaRPr lang="en-US" altLang="zh-CN"/>
          </a:p>
          <a:p>
            <a:pPr marL="0" algn="l">
              <a:buClrTx/>
              <a:buSzTx/>
              <a:buNone/>
            </a:pPr>
            <a:r>
              <a:rPr lang="en-US" altLang="zh-CN" sz="3200" b="1"/>
              <a:t>Layer 2: Protocol &amp; Schema Validation (Local, &lt;20ms)</a:t>
            </a:r>
            <a:endParaRPr lang="en-US" altLang="zh-CN" sz="3200" b="1"/>
          </a:p>
          <a:p>
            <a:r>
              <a:rPr lang="en-US" altLang="zh-CN"/>
              <a:t>System Analogy:Protocol Compliance Verification</a:t>
            </a:r>
            <a:endParaRPr lang="en-US" altLang="zh-CN"/>
          </a:p>
          <a:p>
            <a:r>
              <a:rPr lang="en-US" altLang="zh-CN"/>
              <a:t>The Mechanism: The sanitized payload is passed to local linters, type checkers, or strict compiler validation tools.</a:t>
            </a:r>
            <a:endParaRPr lang="en-US" altLang="zh-CN"/>
          </a:p>
          <a:p>
            <a:r>
              <a:rPr lang="en-US" altLang="zh-CN"/>
              <a:t>The Logic: This layer confirms the structural and logical integrity of the generated output. If the code compiles or matches the schema exactly, it is approved for execution. If the compiler returns a hard failure, the system immediately flags the flash model's response node as corrupted and escalates the fault.</a:t>
            </a:r>
            <a:endParaRPr lang="en-US" altLang="zh-CN"/>
          </a:p>
          <a:p>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Layer 3 &amp; 4</a:t>
            </a:r>
            <a:endParaRPr lang="en-US" altLang="zh-CN"/>
          </a:p>
        </p:txBody>
      </p:sp>
      <p:sp>
        <p:nvSpPr>
          <p:cNvPr id="3" name="内容占位符 2"/>
          <p:cNvSpPr>
            <a:spLocks noGrp="1"/>
          </p:cNvSpPr>
          <p:nvPr>
            <p:ph idx="1"/>
          </p:nvPr>
        </p:nvSpPr>
        <p:spPr/>
        <p:txBody>
          <a:bodyPr>
            <a:normAutofit fontScale="50000"/>
          </a:bodyPr>
          <a:p>
            <a:pPr marL="0" indent="0">
              <a:buNone/>
            </a:pPr>
            <a:r>
              <a:rPr lang="en-US" altLang="zh-CN" sz="3200" b="1">
                <a:sym typeface="+mn-ea"/>
              </a:rPr>
              <a:t>Layer 3: Idempotent Retry with Context Mutation (Remote, Seconds)</a:t>
            </a:r>
            <a:endParaRPr lang="en-US" altLang="zh-CN" sz="3200" b="1"/>
          </a:p>
          <a:p>
            <a:r>
              <a:rPr lang="en-US" altLang="zh-CN">
                <a:sym typeface="+mn-ea"/>
              </a:rPr>
              <a:t>System Analogy:Stateful Transient Exponential Backoff</a:t>
            </a:r>
            <a:endParaRPr lang="en-US" altLang="zh-CN"/>
          </a:p>
          <a:p>
            <a:r>
              <a:rPr lang="en-US" altLang="zh-CN">
                <a:sym typeface="+mn-ea"/>
              </a:rPr>
              <a:t>The Mechanism: The harness clears the mangled output block, appends a precise, localized error payload to the end of the prompt sequence, and requests a single-shot regeneration from the flash model (max_retries = 1).</a:t>
            </a:r>
            <a:endParaRPr lang="en-US" altLang="zh-CN"/>
          </a:p>
          <a:p>
            <a:r>
              <a:rPr lang="en-US" altLang="zh-CN">
                <a:sym typeface="+mn-ea"/>
              </a:rPr>
              <a:t>The Logic: Because the upstream cache prefix remains perfectly locked, a localized retry is incredibly fast and cheap. Given the low cost profile of flash models, giving the model one immediate, well-contextualized chance to correct its mistake is highly cost-effective.</a:t>
            </a:r>
            <a:endParaRPr lang="en-US" altLang="zh-CN"/>
          </a:p>
          <a:p>
            <a:pPr marL="0" indent="0">
              <a:buNone/>
            </a:pPr>
            <a:r>
              <a:rPr lang="en-US" altLang="zh-CN" sz="3200" b="1">
                <a:sym typeface="+mn-ea"/>
              </a:rPr>
              <a:t>Layer 4: Cross-Cluster Failover to Premium Service (Remote, High Cost)</a:t>
            </a:r>
            <a:endParaRPr lang="en-US" altLang="zh-CN" sz="3200" b="1"/>
          </a:p>
          <a:p>
            <a:r>
              <a:rPr lang="en-US" altLang="zh-CN">
                <a:sym typeface="+mn-ea"/>
              </a:rPr>
              <a:t>System Analogy:Circuit Breaking with Premium Cluster Routing</a:t>
            </a:r>
            <a:endParaRPr lang="en-US" altLang="zh-CN"/>
          </a:p>
          <a:p>
            <a:r>
              <a:rPr lang="en-US" altLang="zh-CN">
                <a:sym typeface="+mn-ea"/>
              </a:rPr>
              <a:t>The Mechanism: If the flash model fails to pass validation after a localized retry, it signals that the underlying task complexity has broken through the cognitive ceiling of the lower-cost tier. The harness cuts the execution track and transparently migrates the clean, uncorrupted historical prefix to a high-cognition model tier (e.g., DeepSeek-V4-Pro / R1 reasoning chains).</a:t>
            </a:r>
            <a:endParaRPr lang="en-US" altLang="zh-CN"/>
          </a:p>
          <a:p>
            <a:r>
              <a:rPr lang="en-US" altLang="zh-CN">
                <a:sym typeface="+mn-ea"/>
              </a:rPr>
              <a:t>The Logic: The premium reasoning engine completely restructures the logic to break the dead-end. To prevent costly, repetitive ping-ponging between model tiers, the harness locks the execution track to the Pro model for the remainder of that specific task's lifecycle.</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The </a:t>
            </a:r>
            <a:r>
              <a:rPr lang="en-US" altLang="zh-CN"/>
              <a:t>Comparator Trap in High-Stakes Domains</a:t>
            </a:r>
            <a:endParaRPr lang="en-US" altLang="zh-CN"/>
          </a:p>
        </p:txBody>
      </p:sp>
      <p:sp>
        <p:nvSpPr>
          <p:cNvPr id="3" name="内容占位符 2"/>
          <p:cNvSpPr>
            <a:spLocks noGrp="1"/>
          </p:cNvSpPr>
          <p:nvPr>
            <p:ph idx="1"/>
          </p:nvPr>
        </p:nvSpPr>
        <p:spPr/>
        <p:txBody>
          <a:bodyPr/>
          <a:p>
            <a:pPr marL="0" indent="0">
              <a:buNone/>
            </a:pPr>
            <a:r>
              <a:rPr lang="en-US" altLang="zh-CN"/>
              <a:t>State Observability vs. Action Evaluation</a:t>
            </a:r>
            <a:endParaRPr lang="en-US" altLang="zh-CN"/>
          </a:p>
          <a:p>
            <a:r>
              <a:rPr lang="en-US" altLang="zh-CN"/>
              <a:t>The Misconception: High-liability industries do not lack state visibility; we have real-time market tickers, comprehensive patient charts, and exhaustive legal databases.</a:t>
            </a:r>
            <a:endParaRPr lang="en-US" altLang="zh-CN"/>
          </a:p>
          <a:p>
            <a:r>
              <a:rPr lang="en-US" altLang="zh-CN"/>
              <a:t>The Real Bottleneck: The system collapses at the Comparator Layer—the mechanism responsible for calculating the error delta between an agent's action and the target setpoint.  </a:t>
            </a:r>
            <a:endParaRPr lang="en-US" altLang="zh-CN"/>
          </a:p>
          <a:p>
            <a:r>
              <a:rPr lang="en-US" altLang="zh-CN"/>
              <a:t>The Decoupling: In coding, the Sensor and Comparator are tightly coupled via the console output. In semantic domains, they are completely fractured. </a:t>
            </a:r>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The Missing Enterprise "Compiler"</a:t>
            </a:r>
            <a:endParaRPr lang="zh-CN" altLang="en-US"/>
          </a:p>
        </p:txBody>
      </p:sp>
      <p:sp>
        <p:nvSpPr>
          <p:cNvPr id="3" name="内容占位符 2"/>
          <p:cNvSpPr>
            <a:spLocks noGrp="1"/>
          </p:cNvSpPr>
          <p:nvPr>
            <p:ph idx="1"/>
          </p:nvPr>
        </p:nvSpPr>
        <p:spPr/>
        <p:txBody>
          <a:bodyPr/>
          <a:p>
            <a:r>
              <a:rPr lang="en-US" altLang="zh-CN"/>
              <a:t>Finance: No native finance-compile exists to instantly evaluate whether an unstructured, cross-border asset-allocation strategy contains an implicit compliance breach.</a:t>
            </a:r>
            <a:endParaRPr lang="en-US" altLang="zh-CN"/>
          </a:p>
          <a:p>
            <a:r>
              <a:rPr lang="en-US" altLang="zh-CN"/>
              <a:t>Law: No automated pytest can flag that an open-ended phrasing change on page 90 has silently nullified an indemnity waiver on page 12.  </a:t>
            </a:r>
            <a:endParaRPr lang="en-US" altLang="zh-CN"/>
          </a:p>
          <a:p>
            <a:r>
              <a:rPr lang="en-US" altLang="zh-CN"/>
              <a:t>Medicine: No low-cost, zero-risk sandbox exists to run a clinical triage recommendation where a minor miscalculation wouldn't result in immediate human liability.</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Empirical Proof: The "Read-Only" Stagnation</a:t>
            </a:r>
            <a:endParaRPr lang="zh-CN" altLang="en-US"/>
          </a:p>
        </p:txBody>
      </p:sp>
      <p:sp>
        <p:nvSpPr>
          <p:cNvPr id="3" name="内容占位符 2"/>
          <p:cNvSpPr>
            <a:spLocks noGrp="1"/>
          </p:cNvSpPr>
          <p:nvPr>
            <p:ph idx="1"/>
          </p:nvPr>
        </p:nvSpPr>
        <p:spPr/>
        <p:txBody>
          <a:bodyPr/>
          <a:p>
            <a:r>
              <a:rPr lang="en-US" altLang="zh-CN"/>
              <a:t>The Glass Ceiling: Current enterprise GenAI deployment is heavily bottlenecked at low-risk, peripheral use cases like RAG chatbots, OCR document parsing, and Tier-1 customer support.</a:t>
            </a:r>
            <a:endParaRPr lang="en-US" altLang="zh-CN"/>
          </a:p>
          <a:p>
            <a:r>
              <a:rPr lang="en-US" altLang="zh-CN"/>
              <a:t>The Missing Sensor: These applications dominate because they are "read-only" or low-stakes tasks where a human supervisor is forced to act as the missing closed-loop sensor.</a:t>
            </a:r>
            <a:endParaRPr lang="en-US" altLang="zh-CN"/>
          </a:p>
          <a:p>
            <a:r>
              <a:rPr lang="en-US" altLang="zh-CN"/>
              <a:t>The Automation Wall: Moving from passive "reading" to autonomous "writing" (taking irreversible actions) causes systems to collapse because the underlying harness layer is completely blind to its environment.  </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Why Traditional Feedback Loops Fail Here</a:t>
            </a:r>
            <a:endParaRPr lang="zh-CN" altLang="en-US"/>
          </a:p>
        </p:txBody>
      </p:sp>
      <p:sp>
        <p:nvSpPr>
          <p:cNvPr id="3" name="内容占位符 2"/>
          <p:cNvSpPr>
            <a:spLocks noGrp="1"/>
          </p:cNvSpPr>
          <p:nvPr>
            <p:ph idx="1"/>
          </p:nvPr>
        </p:nvSpPr>
        <p:spPr/>
        <p:txBody>
          <a:bodyPr>
            <a:normAutofit lnSpcReduction="10000"/>
          </a:bodyPr>
          <a:p>
            <a:r>
              <a:rPr lang="en-US" altLang="zh-CN"/>
              <a:t>Catastrophic Feedback Delay: Real-world enterprise feedback has massive latency (investment returns take months; legal clauses take years to face a lawsuit). In control theory, high latency introduces severe system oscillation and instability.</a:t>
            </a:r>
            <a:endParaRPr lang="en-US" altLang="zh-CN"/>
          </a:p>
          <a:p>
            <a:r>
              <a:rPr lang="en-US" altLang="zh-CN"/>
              <a:t>The Self-Evaluating Death Spiral: Lacking a native compiler, developers fall back on letting the LLM evaluate its own output, making the generator its own judge.  </a:t>
            </a:r>
            <a:endParaRPr lang="en-US" altLang="zh-CN"/>
          </a:p>
          <a:p>
            <a:r>
              <a:rPr lang="en-US" altLang="zh-CN"/>
              <a:t>Cognitive Failure Modes: This triggers severe Confirmation Bias (the model confidently approves its own flaws) and Token Cognitive Drift (the model loses track of the target setpoint over multi-turn interactions). </a:t>
            </a:r>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Conclusion: Harness as the Risk-Breaker</a:t>
            </a:r>
            <a:endParaRPr lang="zh-CN" altLang="en-US"/>
          </a:p>
        </p:txBody>
      </p:sp>
      <p:sp>
        <p:nvSpPr>
          <p:cNvPr id="3" name="内容占位符 2"/>
          <p:cNvSpPr>
            <a:spLocks noGrp="1"/>
          </p:cNvSpPr>
          <p:nvPr>
            <p:ph idx="1"/>
          </p:nvPr>
        </p:nvSpPr>
        <p:spPr/>
        <p:txBody>
          <a:bodyPr>
            <a:normAutofit fontScale="60000"/>
          </a:bodyPr>
          <a:p>
            <a:pPr marL="0" indent="0">
              <a:buNone/>
            </a:pPr>
            <a:r>
              <a:rPr lang="en-US" altLang="zh-CN"/>
              <a:t>1. Shifting Focus to Proxy Simulators</a:t>
            </a:r>
            <a:endParaRPr lang="en-US" altLang="zh-CN"/>
          </a:p>
          <a:p>
            <a:r>
              <a:rPr lang="en-US" altLang="zh-CN"/>
              <a:t>Beyond Model Cognition: Upgrading to a "smarter" foundational LLM or writing longer prompts will not rescue a system trapped in an evaluation vacuum.  </a:t>
            </a:r>
            <a:endParaRPr lang="en-US" altLang="zh-CN"/>
          </a:p>
          <a:p>
            <a:r>
              <a:rPr lang="en-US" altLang="zh-CN"/>
              <a:t>Shortening the Loop: Because real-world feedback is severely delayed, the harness must construct high-frequency, local Proxy Simulators (e.g., automated historical backtesting engines or graph-based contract dependency linters) to artificially shorten latency.</a:t>
            </a:r>
            <a:endParaRPr lang="en-US" altLang="zh-CN"/>
          </a:p>
          <a:p>
            <a:pPr marL="0" indent="0">
              <a:buNone/>
            </a:pPr>
            <a:r>
              <a:rPr lang="en-US" altLang="zh-CN"/>
              <a:t>2. Guardrails Over Absolute Judgment</a:t>
            </a:r>
            <a:endParaRPr lang="en-US" altLang="zh-CN"/>
          </a:p>
          <a:p>
            <a:r>
              <a:rPr lang="en-US" altLang="zh-CN"/>
              <a:t>The True Role of the Harness: The goal of Harness Engineering in semantic fields is not to prove that an LLM's decision is the "absolute optimal strategy."</a:t>
            </a:r>
            <a:endParaRPr lang="en-US" altLang="zh-CN"/>
          </a:p>
          <a:p>
            <a:r>
              <a:rPr lang="en-US" altLang="zh-CN"/>
              <a:t>The Risk Breaker: The harness must serve as a deterministic risk breaker and safety guardrail designed to 100% rule out catastrophic failure modes.  </a:t>
            </a:r>
            <a:endParaRPr lang="en-US" altLang="zh-CN"/>
          </a:p>
          <a:p>
            <a:r>
              <a:rPr lang="en-US" altLang="zh-CN"/>
              <a:t>Enforcing Invariants: The harness does not need to understand medical brilliance or legal prose; it simply uses hardcoded invariant constraints and strict schema firewalls (e.g., Pydantic objects) to intercept and kill a tool call if it violates a critical safety boundary.  </a:t>
            </a: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Reference</a:t>
            </a:r>
            <a:endParaRPr lang="en-US" altLang="zh-CN"/>
          </a:p>
        </p:txBody>
      </p:sp>
      <p:sp>
        <p:nvSpPr>
          <p:cNvPr id="3" name="内容占位符 2"/>
          <p:cNvSpPr>
            <a:spLocks noGrp="1"/>
          </p:cNvSpPr>
          <p:nvPr>
            <p:ph idx="1"/>
          </p:nvPr>
        </p:nvSpPr>
        <p:spPr/>
        <p:txBody>
          <a:bodyPr>
            <a:normAutofit fontScale="90000"/>
          </a:bodyPr>
          <a:p>
            <a:r>
              <a:rPr lang="en-US" altLang="zh-CN">
                <a:hlinkClick r:id="rId1" action="ppaction://hlinkfile"/>
              </a:rPr>
              <a:t>agent harness engineering-a survery</a:t>
            </a:r>
            <a:endParaRPr lang="en-US" altLang="zh-CN">
              <a:hlinkClick r:id="rId2" action="ppaction://hlinkfile"/>
            </a:endParaRPr>
          </a:p>
          <a:p>
            <a:r>
              <a:rPr lang="en-US" altLang="zh-CN">
                <a:hlinkClick r:id="rId2" action="ppaction://hlinkfile"/>
              </a:rPr>
              <a:t>From Prompts to Autopilot: Why "Harness Engineering" is the True Key to LLM Reliability</a:t>
            </a:r>
            <a:endParaRPr lang="en-US" altLang="zh-CN"/>
          </a:p>
          <a:p>
            <a:r>
              <a:rPr lang="en-US" altLang="zh-CN">
                <a:hlinkClick r:id="rId3" action="ppaction://hlinkfile"/>
              </a:rPr>
              <a:t>The Algorithm of Compute: Why Modern Agent Harnesses Focus 80% of Their Design on Context Management</a:t>
            </a:r>
            <a:endParaRPr lang="en-US" altLang="zh-CN"/>
          </a:p>
          <a:p>
            <a:r>
              <a:rPr lang="en-US" altLang="zh-CN">
                <a:hlinkClick r:id="rId4" action="ppaction://hlinkfile"/>
              </a:rPr>
              <a:t>Beyond the Echo Chamber: Engineering Resilient LLM Agent Harnesses</a:t>
            </a:r>
            <a:endParaRPr lang="en-US" altLang="zh-CN"/>
          </a:p>
          <a:p>
            <a:r>
              <a:rPr lang="en-US" altLang="zh-CN">
                <a:hlinkClick r:id="rId5" action="ppaction://hlinkfile"/>
              </a:rPr>
              <a:t>The Systems Engineering of LLM Context Management</a:t>
            </a:r>
            <a:endParaRPr lang="en-US" altLang="zh-CN"/>
          </a:p>
          <a:p>
            <a:r>
              <a:rPr lang="en-US" altLang="zh-CN">
                <a:hlinkClick r:id="rId6" action="ppaction://hlinkfile"/>
              </a:rPr>
              <a:t>Harness as an OS: Architectural Musings on Reasonix</a:t>
            </a:r>
            <a:endParaRPr lang="en-US" altLang="zh-CN">
              <a:hlinkClick r:id="rId6" action="ppaction://hlinkfile"/>
            </a:endParaRPr>
          </a:p>
          <a:p>
            <a:r>
              <a:rPr lang="en-US" altLang="zh-CN">
                <a:hlinkClick r:id="rId6" action="ppaction://hlinkfile"/>
              </a:rPr>
              <a:t>The Observability Trap: Why High-Stakes AI Fails</a:t>
            </a:r>
            <a:endParaRPr lang="en-US" altLang="zh-CN"/>
          </a:p>
        </p:txBody>
      </p:sp>
    </p:spTree>
  </p:cSld>
  <p:clrMapOvr>
    <a:masterClrMapping/>
  </p:clrMapOvr>
</p:sld>
</file>

<file path=ppt/tags/tag1.xml><?xml version="1.0" encoding="utf-8"?>
<p:tagLst xmlns:p="http://schemas.openxmlformats.org/presentationml/2006/main">
  <p:tag name="TABLE_ENDDRAG_ORIGIN_RECT" val="828*286"/>
  <p:tag name="TABLE_ENDDRAG_RECT" val="66*156*828*28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15588</Words>
  <Application>WPS 演示</Application>
  <PresentationFormat>宽屏</PresentationFormat>
  <Paragraphs>295</Paragraphs>
  <Slides>24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Arial</vt:lpstr>
      <vt:lpstr>宋体</vt:lpstr>
      <vt:lpstr>Wingdings</vt:lpstr>
      <vt:lpstr>微软雅黑</vt:lpstr>
      <vt:lpstr>Calibri</vt:lpstr>
      <vt:lpstr>Arial Unicode MS</vt:lpstr>
      <vt:lpstr>WPS</vt:lpstr>
      <vt:lpstr>The Agent Harness Framework</vt:lpstr>
      <vt:lpstr>The Evolution of Prompting: A Control Theory Perspective</vt:lpstr>
      <vt:lpstr>Closed-Loop Control Systems</vt:lpstr>
      <vt:lpstr>Map to Harness Engineering</vt:lpstr>
      <vt:lpstr>New Modules for Harness Engineering</vt:lpstr>
      <vt:lpstr>Summary of ETCLOVG Framework </vt:lpstr>
      <vt:lpstr>Orchestration Today</vt:lpstr>
      <vt:lpstr>Comparator(Verification)</vt:lpstr>
      <vt:lpstr>Governance</vt:lpstr>
      <vt:lpstr>Tools and Observability for a Coding Agent</vt:lpstr>
      <vt:lpstr>Context Management</vt:lpstr>
      <vt:lpstr>Layer A: Primary Workspace Pristineness</vt:lpstr>
      <vt:lpstr>Layer C: Sub-Agent Isolation (The Context Firewall)</vt:lpstr>
      <vt:lpstr>Layer B: Tool-Call Telemetry Dieting</vt:lpstr>
      <vt:lpstr>Layer D: Dynamic Tool Loading &amp; Registry Pruning</vt:lpstr>
      <vt:lpstr>Reasonix’s Design on Model Esculation</vt:lpstr>
      <vt:lpstr>Layer 1 &amp; 2</vt:lpstr>
      <vt:lpstr>Layer 3 &amp; 4</vt:lpstr>
      <vt:lpstr>The Observability Trap in High-Stakes Domains</vt:lpstr>
      <vt:lpstr>PowerPoint 演示文稿</vt:lpstr>
      <vt:lpstr>Empirical Proof: The "Read-Only" Stagnation</vt:lpstr>
      <vt:lpstr>PowerPoint 演示文稿</vt:lpstr>
      <vt:lpstr>PowerPoint 演示文稿</vt:lpstr>
      <vt:lpstr>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Jie Chen</dc:creator>
  <cp:lastModifiedBy>陈杰</cp:lastModifiedBy>
  <cp:revision>9</cp:revision>
  <dcterms:created xsi:type="dcterms:W3CDTF">2023-08-09T12:44:00Z</dcterms:created>
  <dcterms:modified xsi:type="dcterms:W3CDTF">2026-06-26T16:04:12Z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BCA8756362E64B1EB7DA47C0ABA4CAC5_12</vt:lpwstr>
  </property>
</Properties>
</file>